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6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7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48D5825-3986-47C3-B428-43C4FF67A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BD6C1AB7-358B-4DC2-A5BA-4F9C53750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63DDE96C-34F7-4B97-A997-37ADC76B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A062C97-2F05-400F-8678-E279B9A7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F906338A-4DB5-4C1D-B5AC-7B48ED96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01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8F91227-B3D9-4699-8526-8BA52F393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065487D-D71C-4E7D-8A96-D76703501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A1258DFF-0F57-48A9-A9BA-DA7A92ED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ABB7C108-C45D-4F84-B002-E2212D8F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5B7870A1-96AA-480E-8F50-8D531955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13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5DE89D8-BD09-4848-A09F-2CA44E63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A83B961F-DD2E-42E5-BB24-63789E14F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43045A40-5A56-4CA4-829C-141DFE0A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5F4F956E-5B79-4383-B467-1E79FB4E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0890E484-7648-4040-81CB-B0D2D71C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18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2FD0C10-374A-49A4-9E48-F8F94098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406E40A1-B40E-48E4-8A6B-38D95DBFF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443868B9-A19E-48A7-B831-C98BFA093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C4079496-CF13-4E32-9D9A-1A449060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956BC8A4-144C-4A5F-B187-B601AA9F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5E2FA1A8-5F6B-4AA2-9C2F-5507AB4A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65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07227C4-D248-4B29-BB0A-5E3A5EF93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5B78747-A2A2-469E-B20B-3657B944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F6A9BAF1-7980-47FF-9ACC-7B0C48B83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5897E52E-6B2F-4EF3-B888-19D2ECFEB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E15B7BB1-CA47-436B-9E1D-1F09FE206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318F2DF9-BFE9-4E81-A419-132A180A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9366790F-E2A3-4A72-A295-70BC18C7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53D18F3E-11D5-474B-8C42-5B0269C3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37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D9A3542-1A1B-48A1-B566-9CA2CCF1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29B43868-771D-4D40-ACFE-342BE34D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A4068550-F810-4CFB-8524-8F462568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04760C7F-4335-4B23-AD65-1A554672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34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3847A6FB-61F9-468D-92D6-576BEC37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9CD1E062-B388-4652-BC7B-79538A84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2599B1A-360F-4E77-8F61-C8882562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37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CA0798D-9B7D-4004-B6D0-7C6F6461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69CA422D-3880-4421-836E-0F63327F0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E941B1BA-FC4A-484E-AA5A-7CCCBEE73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7957B2E0-61BF-47E4-BCB3-76C46BF1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1ACDF841-582A-4545-8E74-CAF17F4B0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3493C73E-3A07-4B83-902C-06FB6DC1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03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BA4D28B-E17D-4317-947E-A5332F24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9BE6056C-B474-4087-95C9-604AB40AB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092708F1-6BE6-43C1-8B2B-634CBE7F7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3AAD2BA4-7CED-4609-8246-D520405F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325C8A8D-FD53-489F-9F56-3FA5B95A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7BD4A947-4B1E-4B37-B961-A1E2549B4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74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D28979A-14CF-442C-A756-53A1A4F8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20C62934-9507-4127-9967-0F34152FB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A66F7809-E1F0-4A26-A489-D89643533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D3DCA4C2-2CCA-4324-A7A0-85B65A0B8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FA45D2E9-3D6B-48F0-BA58-7A1F376E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15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77C37BFC-BBBF-48EF-BCD4-14C5CB9C9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844AD0B6-010B-4020-8EFD-259542326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0D711B94-2DF4-4238-92D0-C93949C92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74B769C6-B347-4FDD-BBDA-A8DD012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85940519-6DCA-4019-8670-BE4A2FBA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67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3DD4DA99-6922-4EB1-BBAA-78B6E7E1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6BEC19B-FE4C-46C1-9F9C-62CDCAC26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473D2A50-0CA4-48A5-86EA-5A6013513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F20CA-3055-4A5C-A736-65E1B8A5B2DD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81513182-8A7A-4648-A3B3-6AFE2B7FF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575AF9BC-AD0A-4DF1-BC01-75C277B19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382B-C31F-465F-B504-042DE80F52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2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Recommend format for python process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25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FE27F6B6-49C7-4D30-92BD-D76CB8230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498350"/>
              </p:ext>
            </p:extLst>
          </p:nvPr>
        </p:nvGraphicFramePr>
        <p:xfrm>
          <a:off x="295472" y="4078992"/>
          <a:ext cx="11656382" cy="880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1781">
                  <a:extLst>
                    <a:ext uri="{9D8B030D-6E8A-4147-A177-3AD203B41FA5}">
                      <a16:colId xmlns:a16="http://schemas.microsoft.com/office/drawing/2014/main" xmlns="" val="1043580003"/>
                    </a:ext>
                  </a:extLst>
                </a:gridCol>
                <a:gridCol w="881781">
                  <a:extLst>
                    <a:ext uri="{9D8B030D-6E8A-4147-A177-3AD203B41FA5}">
                      <a16:colId xmlns:a16="http://schemas.microsoft.com/office/drawing/2014/main" xmlns="" val="31415862"/>
                    </a:ext>
                  </a:extLst>
                </a:gridCol>
                <a:gridCol w="881781">
                  <a:extLst>
                    <a:ext uri="{9D8B030D-6E8A-4147-A177-3AD203B41FA5}">
                      <a16:colId xmlns:a16="http://schemas.microsoft.com/office/drawing/2014/main" xmlns="" val="3985077526"/>
                    </a:ext>
                  </a:extLst>
                </a:gridCol>
                <a:gridCol w="1396153">
                  <a:extLst>
                    <a:ext uri="{9D8B030D-6E8A-4147-A177-3AD203B41FA5}">
                      <a16:colId xmlns:a16="http://schemas.microsoft.com/office/drawing/2014/main" xmlns="" val="2542258629"/>
                    </a:ext>
                  </a:extLst>
                </a:gridCol>
                <a:gridCol w="1678287">
                  <a:extLst>
                    <a:ext uri="{9D8B030D-6E8A-4147-A177-3AD203B41FA5}">
                      <a16:colId xmlns:a16="http://schemas.microsoft.com/office/drawing/2014/main" xmlns="" val="2476205412"/>
                    </a:ext>
                  </a:extLst>
                </a:gridCol>
                <a:gridCol w="1678287">
                  <a:extLst>
                    <a:ext uri="{9D8B030D-6E8A-4147-A177-3AD203B41FA5}">
                      <a16:colId xmlns:a16="http://schemas.microsoft.com/office/drawing/2014/main" xmlns="" val="3534671800"/>
                    </a:ext>
                  </a:extLst>
                </a:gridCol>
                <a:gridCol w="1776262">
                  <a:extLst>
                    <a:ext uri="{9D8B030D-6E8A-4147-A177-3AD203B41FA5}">
                      <a16:colId xmlns:a16="http://schemas.microsoft.com/office/drawing/2014/main" xmlns="" val="1539216947"/>
                    </a:ext>
                  </a:extLst>
                </a:gridCol>
                <a:gridCol w="2482050">
                  <a:extLst>
                    <a:ext uri="{9D8B030D-6E8A-4147-A177-3AD203B41FA5}">
                      <a16:colId xmlns:a16="http://schemas.microsoft.com/office/drawing/2014/main" xmlns="" val="1396022405"/>
                    </a:ext>
                  </a:extLst>
                </a:gridCol>
              </a:tblGrid>
              <a:tr h="4148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building_id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floor_id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890593668"/>
                  </a:ext>
                </a:extLst>
              </a:tr>
              <a:tr h="2325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1.300 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7.000 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 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OuKzKx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24:6f:28:85:ee:16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157052840"/>
                  </a:ext>
                </a:extLst>
              </a:tr>
              <a:tr h="2325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17.900 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 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OujdTa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24:6f:28:86:83:3e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42784538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B60C0B31-28C4-4844-87E9-3F13F74668F0}"/>
              </a:ext>
            </a:extLst>
          </p:cNvPr>
          <p:cNvSpPr txBox="1"/>
          <p:nvPr/>
        </p:nvSpPr>
        <p:spPr>
          <a:xfrm>
            <a:off x="788452" y="642242"/>
            <a:ext cx="112259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 Info: </a:t>
            </a: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ocation engine in python code reads the PL info from a excel file with the following format. Currently, I use the measured x/y and manually make the excel file.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 from the system is not readable. The key/value pair is not always the same. And I need to dig in  different layers to find the key/value pair. The layer number is not always the same, which makes it is impossible to read the info from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 automatically.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701EF0B4-4C3D-45E0-9543-C153B4466CD4}"/>
              </a:ext>
            </a:extLst>
          </p:cNvPr>
          <p:cNvSpPr txBox="1"/>
          <p:nvPr/>
        </p:nvSpPr>
        <p:spPr>
          <a:xfrm>
            <a:off x="597660" y="3572266"/>
            <a:ext cx="3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****.xls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42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E9B6D8DD-9CD1-4D6E-B9ED-62D2454EC7CB}"/>
              </a:ext>
            </a:extLst>
          </p:cNvPr>
          <p:cNvSpPr txBox="1"/>
          <p:nvPr/>
        </p:nvSpPr>
        <p:spPr>
          <a:xfrm>
            <a:off x="355106" y="630315"/>
            <a:ext cx="108721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Info:</a:t>
            </a:r>
          </a:p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engine in python code reads the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floor and room/corridor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 from a excel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as follows.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line is an example of the floor boundary info. The grid id = -1 means it is the floor info.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and third lines are examples of the room boundary info.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excel data is manually generated. The system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 is not readable, which has the same issue as last slide.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DA9E18D1-31FE-4277-B75C-A3110AA94772}"/>
              </a:ext>
            </a:extLst>
          </p:cNvPr>
          <p:cNvSpPr txBox="1"/>
          <p:nvPr/>
        </p:nvSpPr>
        <p:spPr>
          <a:xfrm>
            <a:off x="995224" y="3212817"/>
            <a:ext cx="3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****.xls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7E1D42F0-0E04-4D85-90BA-57FC4B48F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16186"/>
              </p:ext>
            </p:extLst>
          </p:nvPr>
        </p:nvGraphicFramePr>
        <p:xfrm>
          <a:off x="101353" y="3764708"/>
          <a:ext cx="10906953" cy="14304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695">
                  <a:extLst>
                    <a:ext uri="{9D8B030D-6E8A-4147-A177-3AD203B41FA5}">
                      <a16:colId xmlns:a16="http://schemas.microsoft.com/office/drawing/2014/main" xmlns="" val="2366992665"/>
                    </a:ext>
                  </a:extLst>
                </a:gridCol>
                <a:gridCol w="499006">
                  <a:extLst>
                    <a:ext uri="{9D8B030D-6E8A-4147-A177-3AD203B41FA5}">
                      <a16:colId xmlns:a16="http://schemas.microsoft.com/office/drawing/2014/main" xmlns="" val="1258607592"/>
                    </a:ext>
                  </a:extLst>
                </a:gridCol>
                <a:gridCol w="324384">
                  <a:extLst>
                    <a:ext uri="{9D8B030D-6E8A-4147-A177-3AD203B41FA5}">
                      <a16:colId xmlns:a16="http://schemas.microsoft.com/office/drawing/2014/main" xmlns="" val="1725773379"/>
                    </a:ext>
                  </a:extLst>
                </a:gridCol>
                <a:gridCol w="554506">
                  <a:extLst>
                    <a:ext uri="{9D8B030D-6E8A-4147-A177-3AD203B41FA5}">
                      <a16:colId xmlns:a16="http://schemas.microsoft.com/office/drawing/2014/main" xmlns="" val="887659383"/>
                    </a:ext>
                  </a:extLst>
                </a:gridCol>
                <a:gridCol w="417250">
                  <a:extLst>
                    <a:ext uri="{9D8B030D-6E8A-4147-A177-3AD203B41FA5}">
                      <a16:colId xmlns:a16="http://schemas.microsoft.com/office/drawing/2014/main" xmlns="" val="845959626"/>
                    </a:ext>
                  </a:extLst>
                </a:gridCol>
                <a:gridCol w="435006">
                  <a:extLst>
                    <a:ext uri="{9D8B030D-6E8A-4147-A177-3AD203B41FA5}">
                      <a16:colId xmlns:a16="http://schemas.microsoft.com/office/drawing/2014/main" xmlns="" val="1525037837"/>
                    </a:ext>
                  </a:extLst>
                </a:gridCol>
                <a:gridCol w="461639">
                  <a:extLst>
                    <a:ext uri="{9D8B030D-6E8A-4147-A177-3AD203B41FA5}">
                      <a16:colId xmlns:a16="http://schemas.microsoft.com/office/drawing/2014/main" xmlns="" val="844252238"/>
                    </a:ext>
                  </a:extLst>
                </a:gridCol>
                <a:gridCol w="603681">
                  <a:extLst>
                    <a:ext uri="{9D8B030D-6E8A-4147-A177-3AD203B41FA5}">
                      <a16:colId xmlns:a16="http://schemas.microsoft.com/office/drawing/2014/main" xmlns="" val="423940190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xmlns="" val="773720877"/>
                    </a:ext>
                  </a:extLst>
                </a:gridCol>
                <a:gridCol w="337458">
                  <a:extLst>
                    <a:ext uri="{9D8B030D-6E8A-4147-A177-3AD203B41FA5}">
                      <a16:colId xmlns:a16="http://schemas.microsoft.com/office/drawing/2014/main" xmlns="" val="964363498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2314044637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463877090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516327194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9444759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531511095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3398112332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4261758588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3806409532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1059642110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2866626595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1479532056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335109243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406589743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2261771609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392451730"/>
                    </a:ext>
                  </a:extLst>
                </a:gridCol>
                <a:gridCol w="411695">
                  <a:extLst>
                    <a:ext uri="{9D8B030D-6E8A-4147-A177-3AD203B41FA5}">
                      <a16:colId xmlns:a16="http://schemas.microsoft.com/office/drawing/2014/main" xmlns="" val="2099884042"/>
                    </a:ext>
                  </a:extLst>
                </a:gridCol>
              </a:tblGrid>
              <a:tr h="3576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grid_id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center_x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center_y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ir_id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point_num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extLst>
                  <a:ext uri="{0D108BD9-81ED-4DB2-BD59-A6C34878D82A}">
                    <a16:rowId xmlns:a16="http://schemas.microsoft.com/office/drawing/2014/main" xmlns="" val="3175802297"/>
                  </a:ext>
                </a:extLst>
              </a:tr>
              <a:tr h="3576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extLst>
                  <a:ext uri="{0D108BD9-81ED-4DB2-BD59-A6C34878D82A}">
                    <a16:rowId xmlns:a16="http://schemas.microsoft.com/office/drawing/2014/main" xmlns="" val="2779659581"/>
                  </a:ext>
                </a:extLst>
              </a:tr>
              <a:tr h="3576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10103000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10.635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16.355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extLst>
                  <a:ext uri="{0D108BD9-81ED-4DB2-BD59-A6C34878D82A}">
                    <a16:rowId xmlns:a16="http://schemas.microsoft.com/office/drawing/2014/main" xmlns="" val="1622282963"/>
                  </a:ext>
                </a:extLst>
              </a:tr>
              <a:tr h="3576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10103001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10.635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13.375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14.51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12.24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12.24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02" marR="4902" marT="4902" marB="0" anchor="ctr"/>
                </a:tc>
                <a:extLst>
                  <a:ext uri="{0D108BD9-81ED-4DB2-BD59-A6C34878D82A}">
                    <a16:rowId xmlns:a16="http://schemas.microsoft.com/office/drawing/2014/main" xmlns="" val="3811423677"/>
                  </a:ext>
                </a:extLst>
              </a:tr>
            </a:tbl>
          </a:graphicData>
        </a:graphic>
      </p:graphicFrame>
      <p:sp>
        <p:nvSpPr>
          <p:cNvPr id="5" name="对话气泡: 椭圆形 4">
            <a:extLst>
              <a:ext uri="{FF2B5EF4-FFF2-40B4-BE49-F238E27FC236}">
                <a16:creationId xmlns:a16="http://schemas.microsoft.com/office/drawing/2014/main" xmlns="" id="{331B7525-7F97-462F-BF39-454BB2DB02C0}"/>
              </a:ext>
            </a:extLst>
          </p:cNvPr>
          <p:cNvSpPr/>
          <p:nvPr/>
        </p:nvSpPr>
        <p:spPr>
          <a:xfrm>
            <a:off x="10471207" y="3582149"/>
            <a:ext cx="1619440" cy="47939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Floor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对话气泡: 椭圆形 5">
            <a:extLst>
              <a:ext uri="{FF2B5EF4-FFF2-40B4-BE49-F238E27FC236}">
                <a16:creationId xmlns:a16="http://schemas.microsoft.com/office/drawing/2014/main" xmlns="" id="{B69C3037-04BA-4279-9319-886A8D19E529}"/>
              </a:ext>
            </a:extLst>
          </p:cNvPr>
          <p:cNvSpPr/>
          <p:nvPr/>
        </p:nvSpPr>
        <p:spPr>
          <a:xfrm>
            <a:off x="7667343" y="4354506"/>
            <a:ext cx="1361247" cy="301841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1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对话气泡: 椭圆形 6">
            <a:extLst>
              <a:ext uri="{FF2B5EF4-FFF2-40B4-BE49-F238E27FC236}">
                <a16:creationId xmlns:a16="http://schemas.microsoft.com/office/drawing/2014/main" xmlns="" id="{284D17C0-E07D-48C9-B14C-C34AB1C8D2A9}"/>
              </a:ext>
            </a:extLst>
          </p:cNvPr>
          <p:cNvSpPr/>
          <p:nvPr/>
        </p:nvSpPr>
        <p:spPr>
          <a:xfrm>
            <a:off x="8680877" y="4656347"/>
            <a:ext cx="1361247" cy="301841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2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56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EDDC14BF-3A0B-4E39-B06A-3AF8E2ABE126}"/>
              </a:ext>
            </a:extLst>
          </p:cNvPr>
          <p:cNvSpPr txBox="1"/>
          <p:nvPr/>
        </p:nvSpPr>
        <p:spPr>
          <a:xfrm>
            <a:off x="355106" y="630315"/>
            <a:ext cx="116717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 Info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engine in python code reads the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beam info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excel file as follows.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 is manually generated. The system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is not readable, which has the same issue as last slide.</a:t>
            </a:r>
          </a:p>
          <a:p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A3A0228A-E20E-4AB3-9269-E180AD877374}"/>
              </a:ext>
            </a:extLst>
          </p:cNvPr>
          <p:cNvSpPr txBox="1"/>
          <p:nvPr/>
        </p:nvSpPr>
        <p:spPr>
          <a:xfrm>
            <a:off x="1003176" y="2948098"/>
            <a:ext cx="3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****.xls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ADC0CD50-C9BD-46C6-ADAD-77C903B64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673751"/>
              </p:ext>
            </p:extLst>
          </p:nvPr>
        </p:nvGraphicFramePr>
        <p:xfrm>
          <a:off x="417250" y="3709331"/>
          <a:ext cx="11203621" cy="2160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974">
                  <a:extLst>
                    <a:ext uri="{9D8B030D-6E8A-4147-A177-3AD203B41FA5}">
                      <a16:colId xmlns:a16="http://schemas.microsoft.com/office/drawing/2014/main" xmlns="" val="2460826853"/>
                    </a:ext>
                  </a:extLst>
                </a:gridCol>
                <a:gridCol w="1551887">
                  <a:extLst>
                    <a:ext uri="{9D8B030D-6E8A-4147-A177-3AD203B41FA5}">
                      <a16:colId xmlns:a16="http://schemas.microsoft.com/office/drawing/2014/main" xmlns="" val="434168119"/>
                    </a:ext>
                  </a:extLst>
                </a:gridCol>
                <a:gridCol w="800974">
                  <a:extLst>
                    <a:ext uri="{9D8B030D-6E8A-4147-A177-3AD203B41FA5}">
                      <a16:colId xmlns:a16="http://schemas.microsoft.com/office/drawing/2014/main" xmlns="" val="2019013491"/>
                    </a:ext>
                  </a:extLst>
                </a:gridCol>
                <a:gridCol w="810986">
                  <a:extLst>
                    <a:ext uri="{9D8B030D-6E8A-4147-A177-3AD203B41FA5}">
                      <a16:colId xmlns:a16="http://schemas.microsoft.com/office/drawing/2014/main" xmlns="" val="2747286434"/>
                    </a:ext>
                  </a:extLst>
                </a:gridCol>
                <a:gridCol w="1431740">
                  <a:extLst>
                    <a:ext uri="{9D8B030D-6E8A-4147-A177-3AD203B41FA5}">
                      <a16:colId xmlns:a16="http://schemas.microsoft.com/office/drawing/2014/main" xmlns="" val="1276906577"/>
                    </a:ext>
                  </a:extLst>
                </a:gridCol>
                <a:gridCol w="1451765">
                  <a:extLst>
                    <a:ext uri="{9D8B030D-6E8A-4147-A177-3AD203B41FA5}">
                      <a16:colId xmlns:a16="http://schemas.microsoft.com/office/drawing/2014/main" xmlns="" val="2398438570"/>
                    </a:ext>
                  </a:extLst>
                </a:gridCol>
                <a:gridCol w="1271546">
                  <a:extLst>
                    <a:ext uri="{9D8B030D-6E8A-4147-A177-3AD203B41FA5}">
                      <a16:colId xmlns:a16="http://schemas.microsoft.com/office/drawing/2014/main" xmlns="" val="2473057345"/>
                    </a:ext>
                  </a:extLst>
                </a:gridCol>
                <a:gridCol w="1702070">
                  <a:extLst>
                    <a:ext uri="{9D8B030D-6E8A-4147-A177-3AD203B41FA5}">
                      <a16:colId xmlns:a16="http://schemas.microsoft.com/office/drawing/2014/main" xmlns="" val="2763201221"/>
                    </a:ext>
                  </a:extLst>
                </a:gridCol>
                <a:gridCol w="1381679">
                  <a:extLst>
                    <a:ext uri="{9D8B030D-6E8A-4147-A177-3AD203B41FA5}">
                      <a16:colId xmlns:a16="http://schemas.microsoft.com/office/drawing/2014/main" xmlns="" val="1947147051"/>
                    </a:ext>
                  </a:extLst>
                </a:gridCol>
              </a:tblGrid>
              <a:tr h="5349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building_id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floor_id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grid_id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829121668"/>
                  </a:ext>
                </a:extLst>
              </a:tr>
              <a:tr h="534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10.635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16.355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10103000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cb:fa:ed:44:b9:23</a:t>
                      </a:r>
                      <a:endParaRPr lang="it-IT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beam26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643595691"/>
                  </a:ext>
                </a:extLst>
              </a:tr>
              <a:tr h="534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10.635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13.375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10103001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ff:c6:8b:9e:78:c2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beam22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674464079"/>
                  </a:ext>
                </a:extLst>
              </a:tr>
              <a:tr h="5552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6.355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14.25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10103002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ce:de:84:a3:eb:77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beam31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4171759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94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951A50B1-B496-41BA-A20C-1A513DB1C172}"/>
              </a:ext>
            </a:extLst>
          </p:cNvPr>
          <p:cNvSpPr txBox="1"/>
          <p:nvPr/>
        </p:nvSpPr>
        <p:spPr>
          <a:xfrm>
            <a:off x="355106" y="630315"/>
            <a:ext cx="11601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Beacon Info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engine in python code reads the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beacon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 from a excel file as follows.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excel data is manually generated. The system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is not readable, which has the same issue as last slide.</a:t>
            </a:r>
          </a:p>
          <a:p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A5C76E2D-B7D5-4CFD-A933-1F11209D90F4}"/>
              </a:ext>
            </a:extLst>
          </p:cNvPr>
          <p:cNvSpPr txBox="1"/>
          <p:nvPr/>
        </p:nvSpPr>
        <p:spPr>
          <a:xfrm>
            <a:off x="1003176" y="2590721"/>
            <a:ext cx="3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****.xls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1D5BCD5C-2158-4ADF-B933-ABE6AFBF2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461631"/>
              </p:ext>
            </p:extLst>
          </p:nvPr>
        </p:nvGraphicFramePr>
        <p:xfrm>
          <a:off x="283885" y="3193448"/>
          <a:ext cx="11354740" cy="1353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4550">
                  <a:extLst>
                    <a:ext uri="{9D8B030D-6E8A-4147-A177-3AD203B41FA5}">
                      <a16:colId xmlns:a16="http://schemas.microsoft.com/office/drawing/2014/main" xmlns="" val="1116642916"/>
                    </a:ext>
                  </a:extLst>
                </a:gridCol>
                <a:gridCol w="968806">
                  <a:extLst>
                    <a:ext uri="{9D8B030D-6E8A-4147-A177-3AD203B41FA5}">
                      <a16:colId xmlns:a16="http://schemas.microsoft.com/office/drawing/2014/main" xmlns="" val="3416890919"/>
                    </a:ext>
                  </a:extLst>
                </a:gridCol>
                <a:gridCol w="754550">
                  <a:extLst>
                    <a:ext uri="{9D8B030D-6E8A-4147-A177-3AD203B41FA5}">
                      <a16:colId xmlns:a16="http://schemas.microsoft.com/office/drawing/2014/main" xmlns="" val="1634042929"/>
                    </a:ext>
                  </a:extLst>
                </a:gridCol>
                <a:gridCol w="1194704">
                  <a:extLst>
                    <a:ext uri="{9D8B030D-6E8A-4147-A177-3AD203B41FA5}">
                      <a16:colId xmlns:a16="http://schemas.microsoft.com/office/drawing/2014/main" xmlns="" val="3408183965"/>
                    </a:ext>
                  </a:extLst>
                </a:gridCol>
                <a:gridCol w="1436130">
                  <a:extLst>
                    <a:ext uri="{9D8B030D-6E8A-4147-A177-3AD203B41FA5}">
                      <a16:colId xmlns:a16="http://schemas.microsoft.com/office/drawing/2014/main" xmlns="" val="3288093743"/>
                    </a:ext>
                  </a:extLst>
                </a:gridCol>
                <a:gridCol w="1436130">
                  <a:extLst>
                    <a:ext uri="{9D8B030D-6E8A-4147-A177-3AD203B41FA5}">
                      <a16:colId xmlns:a16="http://schemas.microsoft.com/office/drawing/2014/main" xmlns="" val="4288567317"/>
                    </a:ext>
                  </a:extLst>
                </a:gridCol>
                <a:gridCol w="1436130">
                  <a:extLst>
                    <a:ext uri="{9D8B030D-6E8A-4147-A177-3AD203B41FA5}">
                      <a16:colId xmlns:a16="http://schemas.microsoft.com/office/drawing/2014/main" xmlns="" val="4034927372"/>
                    </a:ext>
                  </a:extLst>
                </a:gridCol>
                <a:gridCol w="1853772">
                  <a:extLst>
                    <a:ext uri="{9D8B030D-6E8A-4147-A177-3AD203B41FA5}">
                      <a16:colId xmlns:a16="http://schemas.microsoft.com/office/drawing/2014/main" xmlns="" val="132698127"/>
                    </a:ext>
                  </a:extLst>
                </a:gridCol>
                <a:gridCol w="1519968">
                  <a:extLst>
                    <a:ext uri="{9D8B030D-6E8A-4147-A177-3AD203B41FA5}">
                      <a16:colId xmlns:a16="http://schemas.microsoft.com/office/drawing/2014/main" xmlns="" val="293262339"/>
                    </a:ext>
                  </a:extLst>
                </a:gridCol>
              </a:tblGrid>
              <a:tr h="3382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building_id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floor_id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grid_id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4148305684"/>
                  </a:ext>
                </a:extLst>
              </a:tr>
              <a:tr h="3382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6.559 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14.418 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3.217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10103002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f1:cf:09:22:dd:1f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bvy3d5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xmlns="" val="1141626992"/>
                  </a:ext>
                </a:extLst>
              </a:tr>
              <a:tr h="3382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9.911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5.433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3.217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10103005 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f0:1b:f7:e0:d3:e9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bvp7ud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xmlns="" val="790936139"/>
                  </a:ext>
                </a:extLst>
              </a:tr>
              <a:tr h="3382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2.835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8.465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3.065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10103004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c5:0d:7f:1b:97:27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bvCrzl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xmlns="" val="86196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8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8BC0DC23-9437-41F0-A942-B4AF6E2616A1}"/>
              </a:ext>
            </a:extLst>
          </p:cNvPr>
          <p:cNvSpPr txBox="1"/>
          <p:nvPr/>
        </p:nvSpPr>
        <p:spPr>
          <a:xfrm>
            <a:off x="355106" y="630315"/>
            <a:ext cx="115701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Info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engine in python code reads the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 info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excel file as follows.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excel data is manually generated. The system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is not readable, which has the same issue as last slide.</a:t>
            </a:r>
          </a:p>
          <a:p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543656CA-E5A5-4276-ADA0-5466AFF6DA0A}"/>
              </a:ext>
            </a:extLst>
          </p:cNvPr>
          <p:cNvSpPr txBox="1"/>
          <p:nvPr/>
        </p:nvSpPr>
        <p:spPr>
          <a:xfrm>
            <a:off x="1003176" y="2749471"/>
            <a:ext cx="3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****.xls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1647DCBB-81DE-4BD2-9BF6-DB7C55F81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398311"/>
              </p:ext>
            </p:extLst>
          </p:nvPr>
        </p:nvGraphicFramePr>
        <p:xfrm>
          <a:off x="134106" y="3591132"/>
          <a:ext cx="11779728" cy="144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514">
                  <a:extLst>
                    <a:ext uri="{9D8B030D-6E8A-4147-A177-3AD203B41FA5}">
                      <a16:colId xmlns:a16="http://schemas.microsoft.com/office/drawing/2014/main" xmlns="" val="3206586699"/>
                    </a:ext>
                  </a:extLst>
                </a:gridCol>
                <a:gridCol w="985908">
                  <a:extLst>
                    <a:ext uri="{9D8B030D-6E8A-4147-A177-3AD203B41FA5}">
                      <a16:colId xmlns:a16="http://schemas.microsoft.com/office/drawing/2014/main" xmlns="" val="1243714719"/>
                    </a:ext>
                  </a:extLst>
                </a:gridCol>
                <a:gridCol w="700514">
                  <a:extLst>
                    <a:ext uri="{9D8B030D-6E8A-4147-A177-3AD203B41FA5}">
                      <a16:colId xmlns:a16="http://schemas.microsoft.com/office/drawing/2014/main" xmlns="" val="3489130460"/>
                    </a:ext>
                  </a:extLst>
                </a:gridCol>
                <a:gridCol w="1109147">
                  <a:extLst>
                    <a:ext uri="{9D8B030D-6E8A-4147-A177-3AD203B41FA5}">
                      <a16:colId xmlns:a16="http://schemas.microsoft.com/office/drawing/2014/main" xmlns="" val="1688382501"/>
                    </a:ext>
                  </a:extLst>
                </a:gridCol>
                <a:gridCol w="1333282">
                  <a:extLst>
                    <a:ext uri="{9D8B030D-6E8A-4147-A177-3AD203B41FA5}">
                      <a16:colId xmlns:a16="http://schemas.microsoft.com/office/drawing/2014/main" xmlns="" val="281339611"/>
                    </a:ext>
                  </a:extLst>
                </a:gridCol>
                <a:gridCol w="1333282">
                  <a:extLst>
                    <a:ext uri="{9D8B030D-6E8A-4147-A177-3AD203B41FA5}">
                      <a16:colId xmlns:a16="http://schemas.microsoft.com/office/drawing/2014/main" xmlns="" val="164847739"/>
                    </a:ext>
                  </a:extLst>
                </a:gridCol>
                <a:gridCol w="1333282">
                  <a:extLst>
                    <a:ext uri="{9D8B030D-6E8A-4147-A177-3AD203B41FA5}">
                      <a16:colId xmlns:a16="http://schemas.microsoft.com/office/drawing/2014/main" xmlns="" val="969553580"/>
                    </a:ext>
                  </a:extLst>
                </a:gridCol>
                <a:gridCol w="1333282">
                  <a:extLst>
                    <a:ext uri="{9D8B030D-6E8A-4147-A177-3AD203B41FA5}">
                      <a16:colId xmlns:a16="http://schemas.microsoft.com/office/drawing/2014/main" xmlns="" val="1251528419"/>
                    </a:ext>
                  </a:extLst>
                </a:gridCol>
                <a:gridCol w="1539400">
                  <a:extLst>
                    <a:ext uri="{9D8B030D-6E8A-4147-A177-3AD203B41FA5}">
                      <a16:colId xmlns:a16="http://schemas.microsoft.com/office/drawing/2014/main" xmlns="" val="3425574786"/>
                    </a:ext>
                  </a:extLst>
                </a:gridCol>
                <a:gridCol w="1411117">
                  <a:extLst>
                    <a:ext uri="{9D8B030D-6E8A-4147-A177-3AD203B41FA5}">
                      <a16:colId xmlns:a16="http://schemas.microsoft.com/office/drawing/2014/main" xmlns="" val="2938186222"/>
                    </a:ext>
                  </a:extLst>
                </a:gridCol>
              </a:tblGrid>
              <a:tr h="36011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building_id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floor_id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ir_id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room_id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430830578"/>
                  </a:ext>
                </a:extLst>
              </a:tr>
              <a:tr h="36011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10.635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16.355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it-IT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cb:fa:ed:44:b9:23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beam26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316365772"/>
                  </a:ext>
                </a:extLst>
              </a:tr>
              <a:tr h="36011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10.635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13.375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ff:c6:8b:9e:78:c2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beam22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755613329"/>
                  </a:ext>
                </a:extLst>
              </a:tr>
              <a:tr h="36011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6.355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14.25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ce:de:84:a3:eb:77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beam31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376428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04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5CEE7808-7208-484E-A785-70D136AE0CED}"/>
              </a:ext>
            </a:extLst>
          </p:cNvPr>
          <p:cNvSpPr txBox="1"/>
          <p:nvPr/>
        </p:nvSpPr>
        <p:spPr>
          <a:xfrm>
            <a:off x="355106" y="630315"/>
            <a:ext cx="114431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Cisco AP Info:</a:t>
            </a: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engine in python code reads the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Cisco AP info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excel file with the following format. Currently, I use the measured x/y and manually make the excel file.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from the system is not readable. The key/value pair is not always the same. And I need to dig in  different layers to find the key/value pair. The layer number is not always the same, which makes it is impossible to read the info from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automatically.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FC593B31-B861-458C-B8BC-FF2F42E71948}"/>
              </a:ext>
            </a:extLst>
          </p:cNvPr>
          <p:cNvSpPr txBox="1"/>
          <p:nvPr/>
        </p:nvSpPr>
        <p:spPr>
          <a:xfrm>
            <a:off x="1003176" y="3416221"/>
            <a:ext cx="3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****.xls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CCE1C793-C79D-49D0-BEC2-FB321C47C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013761"/>
              </p:ext>
            </p:extLst>
          </p:nvPr>
        </p:nvGraphicFramePr>
        <p:xfrm>
          <a:off x="98610" y="4104798"/>
          <a:ext cx="11966145" cy="1637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854">
                  <a:extLst>
                    <a:ext uri="{9D8B030D-6E8A-4147-A177-3AD203B41FA5}">
                      <a16:colId xmlns:a16="http://schemas.microsoft.com/office/drawing/2014/main" xmlns="" val="2709471324"/>
                    </a:ext>
                  </a:extLst>
                </a:gridCol>
                <a:gridCol w="1168854">
                  <a:extLst>
                    <a:ext uri="{9D8B030D-6E8A-4147-A177-3AD203B41FA5}">
                      <a16:colId xmlns:a16="http://schemas.microsoft.com/office/drawing/2014/main" xmlns="" val="780206152"/>
                    </a:ext>
                  </a:extLst>
                </a:gridCol>
                <a:gridCol w="1168854">
                  <a:extLst>
                    <a:ext uri="{9D8B030D-6E8A-4147-A177-3AD203B41FA5}">
                      <a16:colId xmlns:a16="http://schemas.microsoft.com/office/drawing/2014/main" xmlns="" val="134318340"/>
                    </a:ext>
                  </a:extLst>
                </a:gridCol>
                <a:gridCol w="1168854">
                  <a:extLst>
                    <a:ext uri="{9D8B030D-6E8A-4147-A177-3AD203B41FA5}">
                      <a16:colId xmlns:a16="http://schemas.microsoft.com/office/drawing/2014/main" xmlns="" val="4162419185"/>
                    </a:ext>
                  </a:extLst>
                </a:gridCol>
                <a:gridCol w="1168854">
                  <a:extLst>
                    <a:ext uri="{9D8B030D-6E8A-4147-A177-3AD203B41FA5}">
                      <a16:colId xmlns:a16="http://schemas.microsoft.com/office/drawing/2014/main" xmlns="" val="2943317921"/>
                    </a:ext>
                  </a:extLst>
                </a:gridCol>
                <a:gridCol w="1168854">
                  <a:extLst>
                    <a:ext uri="{9D8B030D-6E8A-4147-A177-3AD203B41FA5}">
                      <a16:colId xmlns:a16="http://schemas.microsoft.com/office/drawing/2014/main" xmlns="" val="722669925"/>
                    </a:ext>
                  </a:extLst>
                </a:gridCol>
                <a:gridCol w="1373404">
                  <a:extLst>
                    <a:ext uri="{9D8B030D-6E8A-4147-A177-3AD203B41FA5}">
                      <a16:colId xmlns:a16="http://schemas.microsoft.com/office/drawing/2014/main" xmlns="" val="3009457298"/>
                    </a:ext>
                  </a:extLst>
                </a:gridCol>
                <a:gridCol w="2308489">
                  <a:extLst>
                    <a:ext uri="{9D8B030D-6E8A-4147-A177-3AD203B41FA5}">
                      <a16:colId xmlns:a16="http://schemas.microsoft.com/office/drawing/2014/main" xmlns="" val="2709394828"/>
                    </a:ext>
                  </a:extLst>
                </a:gridCol>
                <a:gridCol w="1271128">
                  <a:extLst>
                    <a:ext uri="{9D8B030D-6E8A-4147-A177-3AD203B41FA5}">
                      <a16:colId xmlns:a16="http://schemas.microsoft.com/office/drawing/2014/main" xmlns="" val="802182535"/>
                    </a:ext>
                  </a:extLst>
                </a:gridCol>
              </a:tblGrid>
              <a:tr h="5992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building_id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floor_id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grid_id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850742194"/>
                  </a:ext>
                </a:extLst>
              </a:tr>
              <a:tr h="3462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7.000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24:6f:28:85:ee:16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OuKzKx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380711611"/>
                  </a:ext>
                </a:extLst>
              </a:tr>
              <a:tr h="3462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17.900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24:6f:28:86:83:3e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OujdTa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910594291"/>
                  </a:ext>
                </a:extLst>
              </a:tr>
              <a:tr h="3462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12.300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24:6f:28:86:83:16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Ou5e05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914044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635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B21A1D02-C498-4F8C-A174-CD8F182FFC86}"/>
              </a:ext>
            </a:extLst>
          </p:cNvPr>
          <p:cNvSpPr txBox="1"/>
          <p:nvPr/>
        </p:nvSpPr>
        <p:spPr>
          <a:xfrm>
            <a:off x="355106" y="630315"/>
            <a:ext cx="2787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Beacon List Info: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D49841A4-7C85-4CF9-9980-A9E83ADA10A4}"/>
              </a:ext>
            </a:extLst>
          </p:cNvPr>
          <p:cNvSpPr txBox="1"/>
          <p:nvPr/>
        </p:nvSpPr>
        <p:spPr>
          <a:xfrm>
            <a:off x="1009526" y="2762171"/>
            <a:ext cx="3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****.xls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075C60B3-A75E-4CCE-B39E-3FBEFED2B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37019"/>
              </p:ext>
            </p:extLst>
          </p:nvPr>
        </p:nvGraphicFramePr>
        <p:xfrm>
          <a:off x="1630055" y="3357545"/>
          <a:ext cx="5007914" cy="2521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8914">
                  <a:extLst>
                    <a:ext uri="{9D8B030D-6E8A-4147-A177-3AD203B41FA5}">
                      <a16:colId xmlns:a16="http://schemas.microsoft.com/office/drawing/2014/main" xmlns="" val="1568081447"/>
                    </a:ext>
                  </a:extLst>
                </a:gridCol>
                <a:gridCol w="2102933">
                  <a:extLst>
                    <a:ext uri="{9D8B030D-6E8A-4147-A177-3AD203B41FA5}">
                      <a16:colId xmlns:a16="http://schemas.microsoft.com/office/drawing/2014/main" xmlns="" val="2383946990"/>
                    </a:ext>
                  </a:extLst>
                </a:gridCol>
                <a:gridCol w="1516067">
                  <a:extLst>
                    <a:ext uri="{9D8B030D-6E8A-4147-A177-3AD203B41FA5}">
                      <a16:colId xmlns:a16="http://schemas.microsoft.com/office/drawing/2014/main" xmlns="" val="254821358"/>
                    </a:ext>
                  </a:extLst>
                </a:gridCol>
              </a:tblGrid>
              <a:tr h="4202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beacon_type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475202405"/>
                  </a:ext>
                </a:extLst>
              </a:tr>
              <a:tr h="4202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asset_tag0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it-IT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eb:92:eb:84:cb:fa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603585290"/>
                  </a:ext>
                </a:extLst>
              </a:tr>
              <a:tr h="4202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asset_tag1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ec:a4:d6:0f:f2:d7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210313830"/>
                  </a:ext>
                </a:extLst>
              </a:tr>
              <a:tr h="4202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asset_tag2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it-IT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d7:62:df:ad:ad:58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4106422105"/>
                  </a:ext>
                </a:extLst>
              </a:tr>
              <a:tr h="4202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card_beacon0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de-DE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ff:65:f6:8b:da:2f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81063705"/>
                  </a:ext>
                </a:extLst>
              </a:tr>
              <a:tr h="4202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card_beacon1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ea:ed:41:bc:ce:bc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88566930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81050" y="1142245"/>
            <a:ext cx="9912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engine in python code reads the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beacon info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excel file as follows.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excel data is manually generated. </a:t>
            </a:r>
          </a:p>
        </p:txBody>
      </p:sp>
    </p:spTree>
    <p:extLst>
      <p:ext uri="{BB962C8B-B14F-4D97-AF65-F5344CB8AC3E}">
        <p14:creationId xmlns:p14="http://schemas.microsoft.com/office/powerpoint/2010/main" val="140945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3A534A8-10CB-4D1E-B52F-2B7A35DB8344}"/>
              </a:ext>
            </a:extLst>
          </p:cNvPr>
          <p:cNvSpPr txBox="1"/>
          <p:nvPr/>
        </p:nvSpPr>
        <p:spPr>
          <a:xfrm>
            <a:off x="355106" y="630315"/>
            <a:ext cx="115003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Info:</a:t>
            </a: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engine in python code reads the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info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excel file as follows.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excel data is manually generated.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times we still have different formats.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E13980C6-1436-4D9E-9FFF-138A73345ABE}"/>
              </a:ext>
            </a:extLst>
          </p:cNvPr>
          <p:cNvSpPr txBox="1"/>
          <p:nvPr/>
        </p:nvSpPr>
        <p:spPr>
          <a:xfrm>
            <a:off x="1003176" y="2832021"/>
            <a:ext cx="36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****.xls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C2E669FD-0B14-4959-B50F-C6AD9CC46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97673"/>
              </p:ext>
            </p:extLst>
          </p:nvPr>
        </p:nvGraphicFramePr>
        <p:xfrm>
          <a:off x="1193571" y="3576302"/>
          <a:ext cx="9122282" cy="17331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1690">
                  <a:extLst>
                    <a:ext uri="{9D8B030D-6E8A-4147-A177-3AD203B41FA5}">
                      <a16:colId xmlns:a16="http://schemas.microsoft.com/office/drawing/2014/main" xmlns="" val="1815906339"/>
                    </a:ext>
                  </a:extLst>
                </a:gridCol>
                <a:gridCol w="2647737">
                  <a:extLst>
                    <a:ext uri="{9D8B030D-6E8A-4147-A177-3AD203B41FA5}">
                      <a16:colId xmlns:a16="http://schemas.microsoft.com/office/drawing/2014/main" xmlns="" val="2910263716"/>
                    </a:ext>
                  </a:extLst>
                </a:gridCol>
                <a:gridCol w="2647737">
                  <a:extLst>
                    <a:ext uri="{9D8B030D-6E8A-4147-A177-3AD203B41FA5}">
                      <a16:colId xmlns:a16="http://schemas.microsoft.com/office/drawing/2014/main" xmlns="" val="1761992716"/>
                    </a:ext>
                  </a:extLst>
                </a:gridCol>
                <a:gridCol w="1965118">
                  <a:extLst>
                    <a:ext uri="{9D8B030D-6E8A-4147-A177-3AD203B41FA5}">
                      <a16:colId xmlns:a16="http://schemas.microsoft.com/office/drawing/2014/main" xmlns="" val="685029742"/>
                    </a:ext>
                  </a:extLst>
                </a:gridCol>
              </a:tblGrid>
              <a:tr h="31733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403085657"/>
                  </a:ext>
                </a:extLst>
              </a:tr>
              <a:tr h="36616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10:19:28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10:22:28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10103003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xmlns="" val="3151845696"/>
                  </a:ext>
                </a:extLst>
              </a:tr>
              <a:tr h="36616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10:22:39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10:25:39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10103004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xmlns="" val="3384600290"/>
                  </a:ext>
                </a:extLst>
              </a:tr>
              <a:tr h="36616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10:25:49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10:28:49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10103002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xmlns="" val="3960711306"/>
                  </a:ext>
                </a:extLst>
              </a:tr>
              <a:tr h="31733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10:28:55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10:31:55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10103000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xmlns="" val="193872911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D0036D2-D684-40C5-A7B4-55EDA9464344}"/>
              </a:ext>
            </a:extLst>
          </p:cNvPr>
          <p:cNvSpPr txBox="1"/>
          <p:nvPr/>
        </p:nvSpPr>
        <p:spPr>
          <a:xfrm>
            <a:off x="1193571" y="5389362"/>
            <a:ext cx="816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 s represents the start time; e represents the end time.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52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B60C0B31-28C4-4844-87E9-3F13F74668F0}"/>
              </a:ext>
            </a:extLst>
          </p:cNvPr>
          <p:cNvSpPr txBox="1"/>
          <p:nvPr/>
        </p:nvSpPr>
        <p:spPr>
          <a:xfrm>
            <a:off x="788452" y="642242"/>
            <a:ext cx="112259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Conclusions: </a:t>
            </a:r>
          </a:p>
          <a:p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we do not have stable and readable 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formats, the data process will be slow when the installation is changed (e.g., add PLs).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manual method to generate the excel file cannot be applied to large installation. The excel files must be automatically generated when checking large installation.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58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Microsoft Office PowerPoint</Application>
  <PresentationFormat>Widescreen</PresentationFormat>
  <Paragraphs>339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宋体</vt:lpstr>
      <vt:lpstr>等线</vt:lpstr>
      <vt:lpstr>等线 Light</vt:lpstr>
      <vt:lpstr>Arial</vt:lpstr>
      <vt:lpstr>Times New Roman</vt:lpstr>
      <vt:lpstr>Office 主题​​</vt:lpstr>
      <vt:lpstr>Recommend format for python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2021-05-19T13:28:08Z</dcterms:created>
  <dcterms:modified xsi:type="dcterms:W3CDTF">2021-06-10T01:35:54Z</dcterms:modified>
</cp:coreProperties>
</file>